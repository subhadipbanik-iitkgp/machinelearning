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74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95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7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7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6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97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2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9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37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08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9768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29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949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930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42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9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3A4F2-82AF-4D93-B84E-A23AC95ADC0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F94AE9-1354-4554-A39D-F1902600A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56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60D20-9B08-27CC-CFF7-8971178C0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Facebook Live Sellers Dataset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69BA5-3210-B0A7-11FA-4E2C58E5DF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Finlatics : ML Project by Subhadip Banik</a:t>
            </a:r>
          </a:p>
          <a:p>
            <a:r>
              <a:rPr lang="en-US" dirty="0"/>
              <a:t>Email: subhadipbanik9@gmail.com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91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A0812-FB2F-7369-9A11-21602C69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92012"/>
          </a:xfrm>
        </p:spPr>
        <p:txBody>
          <a:bodyPr>
            <a:normAutofit/>
          </a:bodyPr>
          <a:lstStyle/>
          <a:p>
            <a:r>
              <a:rPr lang="en-US" sz="2700" b="1" dirty="0">
                <a:solidFill>
                  <a:schemeClr val="tx1"/>
                </a:solidFill>
              </a:rPr>
              <a:t>1. How does the time of upload (`status_published`) affect the `</a:t>
            </a:r>
            <a:r>
              <a:rPr lang="en-US" sz="2700" b="1" dirty="0" err="1">
                <a:solidFill>
                  <a:schemeClr val="tx1"/>
                </a:solidFill>
              </a:rPr>
              <a:t>num_reaction</a:t>
            </a:r>
            <a:r>
              <a:rPr lang="en-US" sz="2700" b="1" dirty="0">
                <a:solidFill>
                  <a:schemeClr val="tx1"/>
                </a:solidFill>
              </a:rPr>
              <a:t>`?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064B0C-DC5F-4BBA-ED44-EFBF1027A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71336"/>
            <a:ext cx="10515600" cy="43153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5779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8ED3-6229-58EE-6323-3F59D9CF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063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 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5C0EF-0866-4DE3-8B1B-88A925541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64029"/>
            <a:ext cx="4256314" cy="55129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Observations:</a:t>
            </a:r>
          </a:p>
          <a:p>
            <a:r>
              <a:rPr lang="en-US" dirty="0"/>
              <a:t>Sudden hike of posting in 2015 and 2017-18.</a:t>
            </a:r>
          </a:p>
          <a:p>
            <a:r>
              <a:rPr lang="en-US" dirty="0"/>
              <a:t>Most of the statuses were posted at midnight.</a:t>
            </a:r>
          </a:p>
          <a:p>
            <a:r>
              <a:rPr lang="en-US" dirty="0"/>
              <a:t>Skipping office hours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F28E4F-60C1-C17E-75FF-DD95B31E5B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514" y="875762"/>
            <a:ext cx="6961558" cy="53228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486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C223-817F-A8D9-0D49-549387B2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54505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F0BAC-39BF-75AD-3C67-C3C40F9A1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689" y="457201"/>
            <a:ext cx="2348540" cy="5584162"/>
          </a:xfrm>
        </p:spPr>
        <p:txBody>
          <a:bodyPr>
            <a:normAutofit/>
          </a:bodyPr>
          <a:lstStyle/>
          <a:p>
            <a:r>
              <a:rPr lang="en-US" sz="2400" dirty="0"/>
              <a:t>People are posting status on every weekday.</a:t>
            </a:r>
          </a:p>
          <a:p>
            <a:r>
              <a:rPr lang="en-US" dirty="0"/>
              <a:t>Monday-0</a:t>
            </a:r>
          </a:p>
          <a:p>
            <a:r>
              <a:rPr lang="en-US" dirty="0"/>
              <a:t>Tuesday-1</a:t>
            </a:r>
          </a:p>
          <a:p>
            <a:r>
              <a:rPr lang="en-US" dirty="0"/>
              <a:t>Wednesday-2</a:t>
            </a:r>
          </a:p>
          <a:p>
            <a:r>
              <a:rPr lang="en-US" dirty="0"/>
              <a:t>Thursday-3</a:t>
            </a:r>
          </a:p>
          <a:p>
            <a:r>
              <a:rPr lang="en-US" dirty="0"/>
              <a:t>Friday-4</a:t>
            </a:r>
          </a:p>
          <a:p>
            <a:r>
              <a:rPr lang="en-US" dirty="0"/>
              <a:t>Saturday-5</a:t>
            </a:r>
          </a:p>
          <a:p>
            <a:r>
              <a:rPr lang="en-US" dirty="0"/>
              <a:t>Sunday-6</a:t>
            </a:r>
            <a:endParaRPr lang="en-IN" dirty="0"/>
          </a:p>
        </p:txBody>
      </p:sp>
      <p:pic>
        <p:nvPicPr>
          <p:cNvPr id="14" name="Picture Placeholder 4">
            <a:extLst>
              <a:ext uri="{FF2B5EF4-FFF2-40B4-BE49-F238E27FC236}">
                <a16:creationId xmlns:a16="http://schemas.microsoft.com/office/drawing/2014/main" id="{B07A81A4-16F4-A54B-8CAE-C83F241F920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8" r="5218"/>
          <a:stretch>
            <a:fillRect/>
          </a:stretch>
        </p:blipFill>
        <p:spPr bwMode="auto">
          <a:xfrm>
            <a:off x="3595688" y="0"/>
            <a:ext cx="8596312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4949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4697-66B1-09A5-B2A8-707E8486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6578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2. </a:t>
            </a:r>
            <a:r>
              <a:rPr lang="en-US" sz="2800" b="1" dirty="0">
                <a:solidFill>
                  <a:schemeClr val="tx1"/>
                </a:solidFill>
              </a:rPr>
              <a:t>Is there a correlation between the number of reactions (</a:t>
            </a:r>
            <a:r>
              <a:rPr lang="en-US" sz="2800" b="1" dirty="0" err="1">
                <a:solidFill>
                  <a:schemeClr val="tx1"/>
                </a:solidFill>
              </a:rPr>
              <a:t>num_reactions</a:t>
            </a:r>
            <a:r>
              <a:rPr lang="en-US" sz="2800" b="1" dirty="0">
                <a:solidFill>
                  <a:schemeClr val="tx1"/>
                </a:solidFill>
              </a:rPr>
              <a:t>) and other engagement metrics such as comments (</a:t>
            </a:r>
            <a:r>
              <a:rPr lang="en-US" sz="2800" b="1" dirty="0" err="1">
                <a:solidFill>
                  <a:schemeClr val="tx1"/>
                </a:solidFill>
              </a:rPr>
              <a:t>num_comments</a:t>
            </a:r>
            <a:r>
              <a:rPr lang="en-US" sz="2800" b="1" dirty="0">
                <a:solidFill>
                  <a:schemeClr val="tx1"/>
                </a:solidFill>
              </a:rPr>
              <a:t>) and shares (</a:t>
            </a:r>
            <a:r>
              <a:rPr lang="en-US" sz="2800" b="1" dirty="0" err="1">
                <a:solidFill>
                  <a:schemeClr val="tx1"/>
                </a:solidFill>
              </a:rPr>
              <a:t>num_shares</a:t>
            </a:r>
            <a:r>
              <a:rPr lang="en-US" sz="2800" b="1" dirty="0">
                <a:solidFill>
                  <a:schemeClr val="tx1"/>
                </a:solidFill>
              </a:rPr>
              <a:t>)? If so, what is the strength and direction of this correlation?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10B9E-0014-1530-8A96-6239CC0E9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0905"/>
            <a:ext cx="10515600" cy="3546058"/>
          </a:xfrm>
        </p:spPr>
        <p:txBody>
          <a:bodyPr/>
          <a:lstStyle/>
          <a:p>
            <a:r>
              <a:rPr lang="en-US" dirty="0"/>
              <a:t>The number of comments and shares were expected to be proportional to the number of reaction. But I found no correlation.</a:t>
            </a:r>
          </a:p>
          <a:p>
            <a:r>
              <a:rPr lang="en-US" dirty="0"/>
              <a:t>Giving reaction, commenting and sharing are independent of each other.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907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7401-DDCA-97B6-C52D-DF6AA2FD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6952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3. Use the columns </a:t>
            </a:r>
            <a:r>
              <a:rPr lang="en-US" sz="2800" b="1" dirty="0" err="1">
                <a:solidFill>
                  <a:schemeClr val="tx1"/>
                </a:solidFill>
              </a:rPr>
              <a:t>status_type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num_reactions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num_comments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num_shares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num_likes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num_loves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num_wows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num_hahas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num_sads</a:t>
            </a:r>
            <a:r>
              <a:rPr lang="en-US" sz="2800" b="1" dirty="0">
                <a:solidFill>
                  <a:schemeClr val="tx1"/>
                </a:solidFill>
              </a:rPr>
              <a:t>, and </a:t>
            </a:r>
            <a:r>
              <a:rPr lang="en-US" sz="2800" b="1" dirty="0" err="1">
                <a:solidFill>
                  <a:schemeClr val="tx1"/>
                </a:solidFill>
              </a:rPr>
              <a:t>num_angrys</a:t>
            </a:r>
            <a:r>
              <a:rPr lang="en-US" sz="2800" b="1" dirty="0">
                <a:solidFill>
                  <a:schemeClr val="tx1"/>
                </a:solidFill>
              </a:rPr>
              <a:t> to train a K-Means clustering model on the Facebook Live Sellers dataset.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0CDC-9904-AEF3-DF22-7F9DCC742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1285"/>
            <a:ext cx="10515600" cy="2965677"/>
          </a:xfrm>
        </p:spPr>
        <p:txBody>
          <a:bodyPr>
            <a:normAutofit/>
          </a:bodyPr>
          <a:lstStyle/>
          <a:p>
            <a:r>
              <a:rPr lang="en-IN" dirty="0"/>
              <a:t>Converted all number-string objects to corresponding number (int64)</a:t>
            </a:r>
          </a:p>
          <a:p>
            <a:r>
              <a:rPr lang="en-US" dirty="0"/>
              <a:t>Photo—0, Video—1, Status—2, Link—3</a:t>
            </a:r>
          </a:p>
          <a:p>
            <a:r>
              <a:rPr lang="en-IN" dirty="0"/>
              <a:t>Used </a:t>
            </a:r>
            <a:r>
              <a:rPr lang="en-US" i="1" dirty="0" err="1"/>
              <a:t>LabelEncoder</a:t>
            </a:r>
            <a:r>
              <a:rPr lang="en-US" i="1" dirty="0"/>
              <a:t>, </a:t>
            </a:r>
            <a:r>
              <a:rPr lang="en-US" i="1" dirty="0" err="1"/>
              <a:t>StandardScaler</a:t>
            </a:r>
            <a:r>
              <a:rPr lang="en-US" i="1" dirty="0"/>
              <a:t>, </a:t>
            </a:r>
            <a:r>
              <a:rPr lang="en-US" i="1" dirty="0" err="1"/>
              <a:t>Kmeans</a:t>
            </a:r>
            <a:r>
              <a:rPr lang="en-US" i="1" dirty="0"/>
              <a:t> modules to train a K-means cluster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28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ADBC-0942-A36E-7458-E177E284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117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solidFill>
                  <a:schemeClr val="tx1"/>
                </a:solidFill>
              </a:rPr>
              <a:t>4. </a:t>
            </a:r>
            <a:r>
              <a:rPr lang="en-US" sz="3100" b="1" dirty="0">
                <a:solidFill>
                  <a:schemeClr val="tx1"/>
                </a:solidFill>
              </a:rPr>
              <a:t>Use the elbow method to find the optimum number of clusters.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4506E-1CA0-29E2-5B37-344DF9778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699657"/>
            <a:ext cx="4184035" cy="3341704"/>
          </a:xfrm>
        </p:spPr>
        <p:txBody>
          <a:bodyPr/>
          <a:lstStyle/>
          <a:p>
            <a:r>
              <a:rPr lang="en-US" dirty="0"/>
              <a:t>There is very high value at low number of cluster(s)</a:t>
            </a:r>
          </a:p>
          <a:p>
            <a:r>
              <a:rPr lang="en-US" dirty="0"/>
              <a:t>WCSS saturates after 4 clusters</a:t>
            </a:r>
          </a:p>
          <a:p>
            <a:r>
              <a:rPr lang="en-US" dirty="0"/>
              <a:t>Sudden change of gradient (Elbow) at 3 clusters</a:t>
            </a:r>
          </a:p>
          <a:p>
            <a:r>
              <a:rPr lang="en-US" dirty="0"/>
              <a:t>The optimal number of clusters is 3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D5EC3C-805F-D6ED-F00E-A79BE626F2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89525" y="2491280"/>
            <a:ext cx="4184650" cy="3220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1066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2460-B73E-FF24-4357-EFA2E8B7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38FAF-FD53-F116-990A-56B27F0B2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4544" y="358049"/>
            <a:ext cx="1567542" cy="2374266"/>
          </a:xfrm>
        </p:spPr>
        <p:txBody>
          <a:bodyPr/>
          <a:lstStyle/>
          <a:p>
            <a:r>
              <a:rPr lang="en-US" dirty="0"/>
              <a:t>Photo—0</a:t>
            </a:r>
          </a:p>
          <a:p>
            <a:r>
              <a:rPr lang="en-US" dirty="0"/>
              <a:t>Video—1</a:t>
            </a:r>
          </a:p>
          <a:p>
            <a:r>
              <a:rPr lang="en-US" dirty="0"/>
              <a:t>Status—2</a:t>
            </a:r>
          </a:p>
          <a:p>
            <a:r>
              <a:rPr lang="en-US" dirty="0"/>
              <a:t>Link—3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399A4C-821D-6979-6082-320FEC417B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086" y="358049"/>
            <a:ext cx="7192619" cy="56833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674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A937-165D-27DC-2EF3-AB085624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>
                <a:solidFill>
                  <a:schemeClr val="tx1"/>
                </a:solidFill>
              </a:rPr>
              <a:t>5. </a:t>
            </a:r>
            <a:r>
              <a:rPr lang="en-US" sz="3100" b="1" dirty="0">
                <a:solidFill>
                  <a:schemeClr val="tx1"/>
                </a:solidFill>
              </a:rPr>
              <a:t>What is the count of different types of posts in the dataset?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C426F-7E51-1ADA-80F7-C8ABDEDCD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status_type</a:t>
            </a:r>
            <a:r>
              <a:rPr lang="en-IN" dirty="0"/>
              <a:t>	Count</a:t>
            </a:r>
          </a:p>
          <a:p>
            <a:r>
              <a:rPr lang="en-IN" dirty="0"/>
              <a:t>   photo     		4288</a:t>
            </a:r>
          </a:p>
          <a:p>
            <a:r>
              <a:rPr lang="en-IN" dirty="0"/>
              <a:t>   video     		2334</a:t>
            </a:r>
          </a:p>
          <a:p>
            <a:r>
              <a:rPr lang="en-IN" dirty="0"/>
              <a:t>   status     		365</a:t>
            </a:r>
          </a:p>
          <a:p>
            <a:r>
              <a:rPr lang="en-IN" dirty="0"/>
              <a:t>   link        		63</a:t>
            </a:r>
          </a:p>
          <a:p>
            <a:r>
              <a:rPr lang="en-IN" dirty="0"/>
              <a:t>Name: count, </a:t>
            </a:r>
            <a:r>
              <a:rPr lang="en-IN" dirty="0" err="1"/>
              <a:t>dtype</a:t>
            </a:r>
            <a:r>
              <a:rPr lang="en-IN" dirty="0"/>
              <a:t>: int64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020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E64B-F4AB-8E5E-DE83-2642B832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>
                <a:solidFill>
                  <a:schemeClr val="tx1"/>
                </a:solidFill>
              </a:rPr>
              <a:t>6. </a:t>
            </a:r>
            <a:r>
              <a:rPr lang="en-US" sz="3100" b="1" dirty="0">
                <a:solidFill>
                  <a:schemeClr val="tx1"/>
                </a:solidFill>
              </a:rPr>
              <a:t>What is the average value of </a:t>
            </a:r>
            <a:r>
              <a:rPr lang="en-US" sz="3100" b="1" dirty="0" err="1">
                <a:solidFill>
                  <a:schemeClr val="tx1"/>
                </a:solidFill>
              </a:rPr>
              <a:t>num_reactions</a:t>
            </a:r>
            <a:r>
              <a:rPr lang="en-US" sz="3100" b="1" dirty="0">
                <a:solidFill>
                  <a:schemeClr val="tx1"/>
                </a:solidFill>
              </a:rPr>
              <a:t>, </a:t>
            </a:r>
            <a:r>
              <a:rPr lang="en-US" sz="3100" b="1" dirty="0" err="1">
                <a:solidFill>
                  <a:schemeClr val="tx1"/>
                </a:solidFill>
              </a:rPr>
              <a:t>num_comments</a:t>
            </a:r>
            <a:r>
              <a:rPr lang="en-US" sz="3100" b="1" dirty="0">
                <a:solidFill>
                  <a:schemeClr val="tx1"/>
                </a:solidFill>
              </a:rPr>
              <a:t>, </a:t>
            </a:r>
            <a:r>
              <a:rPr lang="en-US" sz="3100" b="1" dirty="0" err="1">
                <a:solidFill>
                  <a:schemeClr val="tx1"/>
                </a:solidFill>
              </a:rPr>
              <a:t>num_shares</a:t>
            </a:r>
            <a:r>
              <a:rPr lang="en-US" sz="3100" b="1" dirty="0">
                <a:solidFill>
                  <a:schemeClr val="tx1"/>
                </a:solidFill>
              </a:rPr>
              <a:t> for each post type?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2FECAA-4AB0-0FB7-0B33-D28301E41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354953"/>
              </p:ext>
            </p:extLst>
          </p:nvPr>
        </p:nvGraphicFramePr>
        <p:xfrm>
          <a:off x="0" y="2373084"/>
          <a:ext cx="9568540" cy="2873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7482">
                  <a:extLst>
                    <a:ext uri="{9D8B030D-6E8A-4147-A177-3AD203B41FA5}">
                      <a16:colId xmlns:a16="http://schemas.microsoft.com/office/drawing/2014/main" val="3969895789"/>
                    </a:ext>
                  </a:extLst>
                </a:gridCol>
                <a:gridCol w="2267482">
                  <a:extLst>
                    <a:ext uri="{9D8B030D-6E8A-4147-A177-3AD203B41FA5}">
                      <a16:colId xmlns:a16="http://schemas.microsoft.com/office/drawing/2014/main" val="3553394477"/>
                    </a:ext>
                  </a:extLst>
                </a:gridCol>
                <a:gridCol w="2267482">
                  <a:extLst>
                    <a:ext uri="{9D8B030D-6E8A-4147-A177-3AD203B41FA5}">
                      <a16:colId xmlns:a16="http://schemas.microsoft.com/office/drawing/2014/main" val="2634189071"/>
                    </a:ext>
                  </a:extLst>
                </a:gridCol>
                <a:gridCol w="1662446">
                  <a:extLst>
                    <a:ext uri="{9D8B030D-6E8A-4147-A177-3AD203B41FA5}">
                      <a16:colId xmlns:a16="http://schemas.microsoft.com/office/drawing/2014/main" val="2408525681"/>
                    </a:ext>
                  </a:extLst>
                </a:gridCol>
                <a:gridCol w="1103648">
                  <a:extLst>
                    <a:ext uri="{9D8B030D-6E8A-4147-A177-3AD203B41FA5}">
                      <a16:colId xmlns:a16="http://schemas.microsoft.com/office/drawing/2014/main" val="198871347"/>
                    </a:ext>
                  </a:extLst>
                </a:gridCol>
              </a:tblGrid>
              <a:tr h="731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Type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Photo 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Video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Status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Link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734270"/>
                  </a:ext>
                </a:extLst>
              </a:tr>
              <a:tr h="70532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‘num_reactions’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181.3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283.4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438.8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370.1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6850254"/>
                  </a:ext>
                </a:extLst>
              </a:tr>
              <a:tr h="731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‘</a:t>
                      </a:r>
                      <a:r>
                        <a:rPr lang="en-US" sz="1600" dirty="0" err="1">
                          <a:effectLst/>
                        </a:rPr>
                        <a:t>num_comments</a:t>
                      </a:r>
                      <a:r>
                        <a:rPr lang="en-US" sz="1600" dirty="0">
                          <a:effectLst/>
                        </a:rPr>
                        <a:t>’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16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642.5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36.2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5.7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8224312"/>
                  </a:ext>
                </a:extLst>
              </a:tr>
              <a:tr h="70532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‘num_shares’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2.6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115.7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2.6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4.4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0912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140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E80C-C437-5A46-8A5A-9530B8BD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3457"/>
            <a:ext cx="10515600" cy="324795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Magneto" panose="04030805050802020D02" pitchFamily="82" charset="0"/>
              </a:rPr>
              <a:t>Thank you.</a:t>
            </a:r>
            <a:endParaRPr lang="en-IN" dirty="0">
              <a:latin typeface="Magneto" panose="040308050508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6203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430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Magneto</vt:lpstr>
      <vt:lpstr>Trebuchet MS</vt:lpstr>
      <vt:lpstr>Wingdings 3</vt:lpstr>
      <vt:lpstr>Facet</vt:lpstr>
      <vt:lpstr>Facebook Live Sellers Dataset</vt:lpstr>
      <vt:lpstr>1. How does the time of upload (`status_published`) affect the `num_reaction`? </vt:lpstr>
      <vt:lpstr> </vt:lpstr>
      <vt:lpstr> </vt:lpstr>
      <vt:lpstr>2. Is there a correlation between the number of reactions (num_reactions) and other engagement metrics such as comments (num_comments) and shares (num_shares)? If so, what is the strength and direction of this correlation? </vt:lpstr>
      <vt:lpstr>3. Use the columns status_type, num_reactions, num_comments, num_shares, num_likes, num_loves, num_wows, num_hahas, num_sads, and num_angrys to train a K-Means clustering model on the Facebook Live Sellers dataset. </vt:lpstr>
      <vt:lpstr>4. Use the elbow method to find the optimum number of clusters. </vt:lpstr>
      <vt:lpstr> </vt:lpstr>
      <vt:lpstr>5. What is the count of different types of posts in the dataset? </vt:lpstr>
      <vt:lpstr>6. What is the average value of num_reactions, num_comments, num_shares for each post type? 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Subhadip Banik</dc:creator>
  <cp:lastModifiedBy>Subhadip Banik</cp:lastModifiedBy>
  <cp:revision>1</cp:revision>
  <dcterms:created xsi:type="dcterms:W3CDTF">2026-06-16T07:46:17Z</dcterms:created>
  <dcterms:modified xsi:type="dcterms:W3CDTF">2026-06-16T08:16:20Z</dcterms:modified>
</cp:coreProperties>
</file>