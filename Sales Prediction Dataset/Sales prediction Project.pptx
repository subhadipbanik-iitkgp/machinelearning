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831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345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25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516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99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924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943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818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04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2030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7017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34073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8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3936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0254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21589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3843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F141E-E22E-426F-8A07-6864026524EC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EEC81-8E16-4B17-9065-1E53B5C5B9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32168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C2C0F-40FE-6953-D7AC-F322746739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Sales prediction Project</a:t>
            </a:r>
            <a:endParaRPr lang="en-IN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B2B0E9-6FCB-11EB-FF4C-505B683B12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r"/>
            <a:r>
              <a:rPr lang="en-US" dirty="0"/>
              <a:t>By Subhadip Banik</a:t>
            </a:r>
          </a:p>
          <a:p>
            <a:pPr algn="r"/>
            <a:r>
              <a:rPr lang="en-US" dirty="0"/>
              <a:t>Email: subhadipbanik9@gmail.com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365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0A467-E7D5-EA4B-3FF6-BDD046AE3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155940"/>
            <a:ext cx="10820400" cy="2273059"/>
          </a:xfrm>
        </p:spPr>
        <p:txBody>
          <a:bodyPr>
            <a:normAutofit/>
          </a:bodyPr>
          <a:lstStyle/>
          <a:p>
            <a:r>
              <a:rPr lang="en-US" b="1" dirty="0"/>
              <a:t>1. What is the average amount spent on TV advertising in the dataset?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E1D91-6EA6-8CD4-B82C-B2EF4B2657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795623"/>
            <a:ext cx="10820400" cy="2423062"/>
          </a:xfrm>
        </p:spPr>
        <p:txBody>
          <a:bodyPr/>
          <a:lstStyle/>
          <a:p>
            <a:pPr marL="0" indent="0" algn="ctr">
              <a:buNone/>
            </a:pPr>
            <a:r>
              <a:rPr lang="en-US" sz="5400" dirty="0">
                <a:sym typeface="Wingdings" panose="05000000000000000000" pitchFamily="2" charset="2"/>
              </a:rPr>
              <a:t> </a:t>
            </a:r>
            <a:r>
              <a:rPr lang="en-IN" sz="5400" dirty="0"/>
              <a:t>147.0425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5350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6EFC9-5B88-E05E-459D-458B3323A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11506200" cy="129302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2. What is the correlation between radio advertising expenditure and product sales?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D9383-5A80-45F5-8AAA-EDE18A15C3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6788" y="2194113"/>
            <a:ext cx="5334000" cy="4024125"/>
          </a:xfrm>
        </p:spPr>
        <p:txBody>
          <a:bodyPr>
            <a:normAutofit/>
          </a:bodyPr>
          <a:lstStyle/>
          <a:p>
            <a:r>
              <a:rPr lang="en-US" sz="3200" dirty="0"/>
              <a:t>Product sales is almost proportional to radio advertising.</a:t>
            </a:r>
            <a:endParaRPr lang="en-IN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496CA4-9026-AFA9-864A-7C4685231F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8879" y="2193925"/>
            <a:ext cx="4900642" cy="40243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9175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0899E-3041-CF8D-06F1-2C3E7B06A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3. </a:t>
            </a:r>
            <a:r>
              <a:rPr lang="en-US" b="1" dirty="0"/>
              <a:t>Which advertising medium has the highest impact on sales based on the dataset?</a:t>
            </a:r>
            <a:br>
              <a:rPr lang="en-IN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B35C13-5B81-194E-3231-51CBA056D2A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18" y="2193925"/>
            <a:ext cx="5334000" cy="40243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BAE5F57-F15E-698B-1F58-2F5FA23D798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982" y="2193925"/>
            <a:ext cx="4974218" cy="40243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4866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0F60-2C16-249C-349F-C00332D90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69036-7411-F395-D3DC-469C4BBB75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467" y="753532"/>
            <a:ext cx="10130516" cy="4301547"/>
          </a:xfrm>
        </p:spPr>
        <p:txBody>
          <a:bodyPr>
            <a:normAutofit/>
          </a:bodyPr>
          <a:lstStyle/>
          <a:p>
            <a:r>
              <a:rPr lang="en-US" sz="2400" dirty="0"/>
              <a:t>Clearly TV advertisements are the most impactful also the plot of TV advertisement vs sales is almost linear and mort predictive.</a:t>
            </a:r>
          </a:p>
          <a:p>
            <a:endParaRPr lang="en-US" sz="2400" dirty="0"/>
          </a:p>
          <a:p>
            <a:r>
              <a:rPr lang="en-US" sz="2400" dirty="0"/>
              <a:t>Radio is the second impactful medium. It is almost linear but the sample range is less.</a:t>
            </a:r>
          </a:p>
          <a:p>
            <a:endParaRPr lang="en-US" sz="2400" dirty="0"/>
          </a:p>
          <a:p>
            <a:r>
              <a:rPr lang="en-US" sz="2400" dirty="0"/>
              <a:t>The effect of newspaper is very unpredictive with low gradient.</a:t>
            </a:r>
          </a:p>
        </p:txBody>
      </p:sp>
    </p:spTree>
    <p:extLst>
      <p:ext uri="{BB962C8B-B14F-4D97-AF65-F5344CB8AC3E}">
        <p14:creationId xmlns:p14="http://schemas.microsoft.com/office/powerpoint/2010/main" val="2413551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EEF46-5536-FD02-EB9D-1BDD1073A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523999"/>
            <a:ext cx="4114800" cy="4324709"/>
          </a:xfrm>
        </p:spPr>
        <p:txBody>
          <a:bodyPr>
            <a:normAutofit fontScale="90000"/>
          </a:bodyPr>
          <a:lstStyle/>
          <a:p>
            <a:r>
              <a:rPr lang="en-US" dirty="0"/>
              <a:t>4.</a:t>
            </a:r>
            <a:r>
              <a:rPr lang="en-US" b="1" dirty="0"/>
              <a:t> Plot a linear regression line that includes all variables (TV, Radio, Newspaper) to predict Sales, and visualize the model's predictions against the actual sales values.</a:t>
            </a:r>
            <a:br>
              <a:rPr lang="en-IN" dirty="0"/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EE44DD-91CC-C8AE-FEAC-8FD3EDCF5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FFE626D6-A356-E7C3-ECA8-E4FAB2B46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5863" y="985943"/>
            <a:ext cx="6510337" cy="49924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7672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DA042-00EA-F747-0AC5-EC12CAD63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389" y="258792"/>
            <a:ext cx="10660811" cy="5193102"/>
          </a:xfrm>
        </p:spPr>
        <p:txBody>
          <a:bodyPr>
            <a:normAutofit/>
          </a:bodyPr>
          <a:lstStyle/>
          <a:p>
            <a:r>
              <a:rPr lang="en-US" b="1" dirty="0"/>
              <a:t>5. How would sales be predicted for a new set of advertising expenditures: $200 on TV, $40 on Radio, and $50 on Newspaper?</a:t>
            </a:r>
            <a:br>
              <a:rPr lang="en-IN" dirty="0"/>
            </a:br>
            <a:endParaRPr lang="en-IN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BA1E1F-ED4A-CD9A-FA7E-B0CA4AA7A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929743"/>
            <a:ext cx="10820400" cy="228894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200" dirty="0">
                <a:sym typeface="Wingdings" panose="05000000000000000000" pitchFamily="2" charset="2"/>
              </a:rPr>
              <a:t>  </a:t>
            </a:r>
            <a:r>
              <a:rPr lang="en-IN" sz="3200" dirty="0"/>
              <a:t>Predicted sales = 19.8195841</a:t>
            </a:r>
          </a:p>
          <a:p>
            <a:pPr marL="0" indent="0">
              <a:buNone/>
            </a:pPr>
            <a:r>
              <a:rPr lang="en-IN" sz="2400" dirty="0"/>
              <a:t>A new advertising campaign with expenditures of </a:t>
            </a:r>
            <a:r>
              <a:rPr lang="en-IN" sz="2400" b="1" dirty="0"/>
              <a:t>$200 on TV</a:t>
            </a:r>
            <a:r>
              <a:rPr lang="en-IN" sz="2400" dirty="0"/>
              <a:t>, </a:t>
            </a:r>
            <a:r>
              <a:rPr lang="en-IN" sz="2400" b="1" dirty="0"/>
              <a:t>$40 on Radio</a:t>
            </a:r>
            <a:r>
              <a:rPr lang="en-IN" sz="2400" dirty="0"/>
              <a:t>, and </a:t>
            </a:r>
            <a:r>
              <a:rPr lang="en-IN" sz="2400" b="1" dirty="0"/>
              <a:t>$50 on Newspaper</a:t>
            </a:r>
            <a:r>
              <a:rPr lang="en-IN" sz="2400" dirty="0"/>
              <a:t> was provided as input to the trained linear regression model. The model predicted the expected sales to be </a:t>
            </a:r>
            <a:r>
              <a:rPr lang="en-IN" sz="2400" b="1" dirty="0"/>
              <a:t>19.8 units</a:t>
            </a:r>
            <a:r>
              <a:rPr lang="en-IN" sz="2400" dirty="0"/>
              <a:t>. This prediction is based on the relationship learned from the historical advertising and sales data.</a:t>
            </a:r>
          </a:p>
        </p:txBody>
      </p:sp>
    </p:spTree>
    <p:extLst>
      <p:ext uri="{BB962C8B-B14F-4D97-AF65-F5344CB8AC3E}">
        <p14:creationId xmlns:p14="http://schemas.microsoft.com/office/powerpoint/2010/main" val="3936761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4EDC8-C3BD-6F0F-F883-5279F857B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431985"/>
            <a:ext cx="10820400" cy="1997014"/>
          </a:xfrm>
        </p:spPr>
        <p:txBody>
          <a:bodyPr>
            <a:normAutofit/>
          </a:bodyPr>
          <a:lstStyle/>
          <a:p>
            <a:r>
              <a:rPr lang="en-US" sz="3200" dirty="0"/>
              <a:t>6. </a:t>
            </a:r>
            <a:r>
              <a:rPr lang="en-US" sz="3200" b="1" dirty="0"/>
              <a:t>How does the performance of the linear regression model change when the dataset is normalized?</a:t>
            </a:r>
            <a:br>
              <a:rPr lang="en-IN" sz="3200" dirty="0"/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5DF0A-8EC2-9DEA-46AC-CD1449F93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674853"/>
            <a:ext cx="10820400" cy="2543832"/>
          </a:xfrm>
        </p:spPr>
        <p:txBody>
          <a:bodyPr/>
          <a:lstStyle/>
          <a:p>
            <a:r>
              <a:rPr lang="en-IN" dirty="0"/>
              <a:t>The linear regression model was trained on both the original dataset and the normalized dataset using Min-Max Scaling. The R² score obtained in both cases was </a:t>
            </a:r>
            <a:r>
              <a:rPr lang="en-IN" b="1" dirty="0"/>
              <a:t>0.89910282638328</a:t>
            </a:r>
            <a:r>
              <a:rPr lang="en-IN" dirty="0"/>
              <a:t>.</a:t>
            </a:r>
          </a:p>
          <a:p>
            <a:r>
              <a:rPr lang="en-IN" dirty="0"/>
              <a:t>Since the R² score remained exactly the same after normalization, it can be concluded that </a:t>
            </a:r>
            <a:r>
              <a:rPr lang="en-IN" b="1" dirty="0"/>
              <a:t>normalization did not affect the predictive performance of the linear regression model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0398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83A9-4B35-BEDF-5B65-B9E9E2C16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34" y="764372"/>
            <a:ext cx="11299166" cy="2237619"/>
          </a:xfrm>
        </p:spPr>
        <p:txBody>
          <a:bodyPr>
            <a:normAutofit fontScale="90000"/>
          </a:bodyPr>
          <a:lstStyle/>
          <a:p>
            <a:r>
              <a:rPr lang="en-US" dirty="0"/>
              <a:t>7. </a:t>
            </a:r>
            <a:r>
              <a:rPr lang="en-US" b="1" dirty="0"/>
              <a:t>What is the impact on the sales prediction when only radio and newspaper advertising expenditures are used as predictors?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A2B967-6F68-3DFF-BC70-60020A02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3260785"/>
            <a:ext cx="10820400" cy="2957900"/>
          </a:xfrm>
        </p:spPr>
        <p:txBody>
          <a:bodyPr>
            <a:normAutofit lnSpcReduction="10000"/>
          </a:bodyPr>
          <a:lstStyle/>
          <a:p>
            <a:r>
              <a:rPr lang="en-IN" sz="2400" dirty="0"/>
              <a:t>A new linear regression model was trained using only </a:t>
            </a:r>
            <a:r>
              <a:rPr lang="en-IN" sz="2400" b="1" dirty="0"/>
              <a:t>Radio</a:t>
            </a:r>
            <a:r>
              <a:rPr lang="en-IN" sz="2400" dirty="0"/>
              <a:t> and </a:t>
            </a:r>
            <a:r>
              <a:rPr lang="en-IN" sz="2400" b="1" dirty="0"/>
              <a:t>Newspaper</a:t>
            </a:r>
            <a:r>
              <a:rPr lang="en-IN" sz="2400" dirty="0"/>
              <a:t> advertising expenditures as predictor variables. The resulting model achieved an </a:t>
            </a:r>
            <a:r>
              <a:rPr lang="en-IN" sz="2400" b="1" dirty="0"/>
              <a:t>R² score of -0.0519</a:t>
            </a:r>
            <a:r>
              <a:rPr lang="en-IN" sz="2400" dirty="0"/>
              <a:t>, compared to </a:t>
            </a:r>
            <a:r>
              <a:rPr lang="en-IN" sz="2400" b="1" dirty="0"/>
              <a:t>0.8991</a:t>
            </a:r>
            <a:r>
              <a:rPr lang="en-IN" sz="2400" dirty="0"/>
              <a:t> for the original model that included TV advertising.</a:t>
            </a:r>
          </a:p>
          <a:p>
            <a:r>
              <a:rPr lang="en-IN" sz="2400" dirty="0"/>
              <a:t>The negative R² score indicates that the reduced model performs worse than a baseline model that simply predicts the average sales value for all observations. This demonstrates that Radio and Newspaper expenditures alone are not sufficient to accurately predict sales.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9605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F6ED3-4430-7362-A95E-C8A1939D8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7147" y="764373"/>
            <a:ext cx="10609053" cy="5912472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639733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27</TotalTime>
  <Words>441</Words>
  <Application>Microsoft Office PowerPoint</Application>
  <PresentationFormat>Widescreen</PresentationFormat>
  <Paragraphs>26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</vt:lpstr>
      <vt:lpstr>Vapor Trail</vt:lpstr>
      <vt:lpstr>Sales prediction Project</vt:lpstr>
      <vt:lpstr>1. What is the average amount spent on TV advertising in the dataset? </vt:lpstr>
      <vt:lpstr>2. What is the correlation between radio advertising expenditure and product sales? </vt:lpstr>
      <vt:lpstr>3. Which advertising medium has the highest impact on sales based on the dataset? </vt:lpstr>
      <vt:lpstr> </vt:lpstr>
      <vt:lpstr>4. Plot a linear regression line that includes all variables (TV, Radio, Newspaper) to predict Sales, and visualize the model's predictions against the actual sales values. </vt:lpstr>
      <vt:lpstr>5. How would sales be predicted for a new set of advertising expenditures: $200 on TV, $40 on Radio, and $50 on Newspaper? </vt:lpstr>
      <vt:lpstr>6. How does the performance of the linear regression model change when the dataset is normalized? </vt:lpstr>
      <vt:lpstr>7. What is the impact on the sales prediction when only radio and newspaper advertising expenditures are used as predictors?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Subhadip Banik</dc:creator>
  <cp:lastModifiedBy>Subhadip Banik</cp:lastModifiedBy>
  <cp:revision>1</cp:revision>
  <dcterms:created xsi:type="dcterms:W3CDTF">2026-06-16T11:02:49Z</dcterms:created>
  <dcterms:modified xsi:type="dcterms:W3CDTF">2026-06-16T11:30:41Z</dcterms:modified>
</cp:coreProperties>
</file>